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</p:sldIdLst>
  <p:sldSz cy="6858000" cx="12192000"/>
  <p:notesSz cx="6858000" cy="9144000"/>
  <p:embeddedFontLst>
    <p:embeddedFont>
      <p:font typeface="Century Gothic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45" roundtripDataSignature="AMtx7mhpnf7VNKC2G0pe/kH8YkBPAg0r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font" Target="fonts/CenturyGothic-bold.fntdata"/><Relationship Id="rId41" Type="http://schemas.openxmlformats.org/officeDocument/2006/relationships/font" Target="fonts/CenturyGothic-regular.fntdata"/><Relationship Id="rId22" Type="http://schemas.openxmlformats.org/officeDocument/2006/relationships/slide" Target="slides/slide17.xml"/><Relationship Id="rId44" Type="http://schemas.openxmlformats.org/officeDocument/2006/relationships/font" Target="fonts/CenturyGothic-boldItalic.fntdata"/><Relationship Id="rId21" Type="http://schemas.openxmlformats.org/officeDocument/2006/relationships/slide" Target="slides/slide16.xml"/><Relationship Id="rId43" Type="http://schemas.openxmlformats.org/officeDocument/2006/relationships/font" Target="fonts/CenturyGothic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" name="Google Shape;17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7aab23c01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" name="Google Shape;45;g37aab23c010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aab23c01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9" name="Google Shape;59;g37aab23c010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c371840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7c371840b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7c371840b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7" name="Google Shape;87;g37c371840b5_0_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7c371840b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g37c371840b5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c371840b5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5" name="Google Shape;115;g37c371840b5_0_2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c371840b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7c371840b5_0_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c371840b5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g37c371840b5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371840b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g37c371840b5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c371840b5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7c371840b5_0_1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886b0dbf4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g3886b0dbf4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86b0dbf4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9" name="Google Shape;199;g3886b0dbf47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86b0dbf4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g3886b0dbf47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7c5afa1c5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g37c5afa1c5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c5afa1c5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7c5afa1c5d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c5afa1c5d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5" name="Google Shape;255;g37c5afa1c5d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7c5afa1c5d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9" name="Google Shape;269;g37c5afa1c5d_0_3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7c5afa1c5d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3" name="Google Shape;283;g37c5afa1c5d_0_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7c5afa1c5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7" name="Google Shape;297;g37c5afa1c5d_0_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7c5afa1c5d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1" name="Google Shape;311;g37c5afa1c5d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37c624363f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5" name="Google Shape;325;g37c624363f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cd5a0a9d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9" name="Google Shape;339;g37cd5a0a9dd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7cd5a0a9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3" name="Google Shape;353;g37cd5a0a9d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7d5f055cb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7" name="Google Shape;367;g37d5f055cb8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7db7fc57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81" name="Google Shape;381;g37db7fc57b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7db7fc57b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5" name="Google Shape;395;g37db7fc57b7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8a44bd8b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9" name="Google Shape;409;g38a44bd8be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38a54c359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3" name="Google Shape;423;g38a54c3591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8a54c3591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7" name="Google Shape;437;g38a54c35913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7ea80125f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1" name="Google Shape;451;g37ea80125fd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7ea80125f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5" name="Google Shape;465;g37ea80125fd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7c5afa1c5d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9" name="Google Shape;479;g37c5afa1c5d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7d5f055c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93" name="Google Shape;493;g37d5f055cb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8"/>
          <p:cNvSpPr txBox="1"/>
          <p:nvPr>
            <p:ph type="title"/>
          </p:nvPr>
        </p:nvSpPr>
        <p:spPr>
          <a:xfrm>
            <a:off x="1096963" y="285750"/>
            <a:ext cx="10058400" cy="1450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10118725" y="6481762"/>
            <a:ext cx="671512" cy="301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74747"/>
            </a:gs>
            <a:gs pos="60000">
              <a:srgbClr val="626262"/>
            </a:gs>
            <a:gs pos="100000">
              <a:srgbClr val="8C8C8C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/>
          <p:nvPr/>
        </p:nvSpPr>
        <p:spPr>
          <a:xfrm>
            <a:off x="9525" y="14287"/>
            <a:ext cx="12172950" cy="6837362"/>
          </a:xfrm>
          <a:prstGeom prst="rtTriangle">
            <a:avLst/>
          </a:prstGeom>
          <a:gradFill>
            <a:gsLst>
              <a:gs pos="0">
                <a:srgbClr val="D2D2D2"/>
              </a:gs>
              <a:gs pos="69999">
                <a:srgbClr val="D2D2D2"/>
              </a:gs>
              <a:gs pos="100000">
                <a:srgbClr val="D2D2D2"/>
              </a:gs>
            </a:gsLst>
            <a:lin ang="798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" name="Google Shape;7;p7"/>
          <p:cNvCxnSpPr/>
          <p:nvPr/>
        </p:nvCxnSpPr>
        <p:spPr>
          <a:xfrm>
            <a:off x="0" y="6350"/>
            <a:ext cx="12182475" cy="6845300"/>
          </a:xfrm>
          <a:prstGeom prst="straightConnector1">
            <a:avLst/>
          </a:prstGeom>
          <a:noFill/>
          <a:ln cap="rnd" cmpd="sng" w="9525">
            <a:solidFill>
              <a:srgbClr val="BFBFBF">
                <a:alpha val="34117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" name="Google Shape;8;p7"/>
          <p:cNvCxnSpPr/>
          <p:nvPr/>
        </p:nvCxnSpPr>
        <p:spPr>
          <a:xfrm flipH="1">
            <a:off x="8624887" y="4948237"/>
            <a:ext cx="3563937" cy="1900237"/>
          </a:xfrm>
          <a:prstGeom prst="straightConnector1">
            <a:avLst/>
          </a:prstGeom>
          <a:noFill/>
          <a:ln cap="rnd" cmpd="sng" w="9525">
            <a:solidFill>
              <a:srgbClr val="C6C6C6">
                <a:alpha val="44313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" name="Google Shape;9;p7"/>
          <p:cNvSpPr txBox="1"/>
          <p:nvPr>
            <p:ph type="title"/>
          </p:nvPr>
        </p:nvSpPr>
        <p:spPr>
          <a:xfrm>
            <a:off x="609600" y="268287"/>
            <a:ext cx="10972800" cy="1398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200" u="none" cap="none" strike="noStrike">
                <a:solidFill>
                  <a:srgbClr val="FF5C9C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" type="body"/>
          </p:nvPr>
        </p:nvSpPr>
        <p:spPr>
          <a:xfrm>
            <a:off x="609600" y="1882775"/>
            <a:ext cx="10972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⦿"/>
              <a:defRPr b="0" i="0" sz="3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85444" lvl="1" marL="914400" marR="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1"/>
              </a:buClr>
              <a:buSzPts val="2470"/>
              <a:buFont typeface="Verdana"/>
              <a:buChar char="›"/>
              <a:defRPr b="0" i="0" sz="2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●"/>
              <a:defRPr b="0" i="0" sz="24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●"/>
              <a:defRPr b="0" i="0" sz="2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49250" lvl="4" marL="2286000" marR="0" rtl="0" algn="l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rgbClr val="FF90B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42900" lvl="5" marL="2743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F8EB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FF8EB1"/>
              </a:buClr>
              <a:buSzPts val="1600"/>
              <a:buFont typeface="Noto Sans Symbols"/>
              <a:buChar char="●"/>
              <a:defRPr b="0" i="0" sz="16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sp>
        <p:nvSpPr>
          <p:cNvPr id="11" name="Google Shape;11;p7"/>
          <p:cNvSpPr txBox="1"/>
          <p:nvPr>
            <p:ph idx="12" type="sldNum"/>
          </p:nvPr>
        </p:nvSpPr>
        <p:spPr>
          <a:xfrm>
            <a:off x="10118725" y="6481762"/>
            <a:ext cx="671512" cy="3016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"/>
          <p:cNvSpPr txBox="1"/>
          <p:nvPr/>
        </p:nvSpPr>
        <p:spPr>
          <a:xfrm>
            <a:off x="0" y="6318250"/>
            <a:ext cx="121920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" name="Google Shape;20;p1"/>
          <p:cNvCxnSpPr/>
          <p:nvPr/>
        </p:nvCxnSpPr>
        <p:spPr>
          <a:xfrm>
            <a:off x="1193800" y="1738312"/>
            <a:ext cx="9966325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" name="Google Shape;21;p1"/>
          <p:cNvSpPr txBox="1"/>
          <p:nvPr/>
        </p:nvSpPr>
        <p:spPr>
          <a:xfrm>
            <a:off x="10728325" y="6405562"/>
            <a:ext cx="2174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1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3;p1"/>
          <p:cNvSpPr txBox="1"/>
          <p:nvPr/>
        </p:nvSpPr>
        <p:spPr>
          <a:xfrm>
            <a:off x="0" y="6318250"/>
            <a:ext cx="121920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" name="Google Shape;24;p1"/>
          <p:cNvCxnSpPr/>
          <p:nvPr/>
        </p:nvCxnSpPr>
        <p:spPr>
          <a:xfrm>
            <a:off x="1193800" y="1738312"/>
            <a:ext cx="9966325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1"/>
          <p:cNvSpPr txBox="1"/>
          <p:nvPr>
            <p:ph idx="4294967295" type="title"/>
          </p:nvPr>
        </p:nvSpPr>
        <p:spPr>
          <a:xfrm>
            <a:off x="609600" y="285751"/>
            <a:ext cx="11582400" cy="131445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3500"/>
              <a:buFont typeface="Century Gothic"/>
              <a:buNone/>
            </a:pPr>
            <a:r>
              <a:rPr b="1" lang="en-US" sz="5900">
                <a:solidFill>
                  <a:srgbClr val="FF599C"/>
                </a:solidFill>
              </a:rPr>
              <a:t>TypeScript</a:t>
            </a:r>
            <a:endParaRPr sz="6600"/>
          </a:p>
        </p:txBody>
      </p:sp>
      <p:sp>
        <p:nvSpPr>
          <p:cNvPr id="26" name="Google Shape;26;p1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1" lang="en-US">
                <a:solidFill>
                  <a:schemeClr val="dk1"/>
                </a:solidFill>
              </a:rPr>
              <a:t>       TypeScript for Playwright</a:t>
            </a:r>
            <a:r>
              <a:rPr b="1" i="0" lang="en-US" sz="30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Beginner Tutorial</a:t>
            </a:r>
            <a:endParaRPr b="1" i="0" sz="3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rPr b="1" lang="en-US">
                <a:solidFill>
                  <a:schemeClr val="dk1"/>
                </a:solidFill>
              </a:rPr>
              <a:t>                                                               Surendra Jaganadam</a:t>
            </a:r>
            <a:endParaRPr b="1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30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/>
          </a:p>
          <a:p>
            <a:pPr indent="-230188" lvl="0" marL="4476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None/>
            </a:pPr>
            <a:r>
              <a:t/>
            </a:r>
            <a:endParaRPr b="1" i="0" sz="3000" u="non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0815637" y="6405562"/>
            <a:ext cx="1377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/>
        </p:nvSpPr>
        <p:spPr>
          <a:xfrm>
            <a:off x="0" y="6318250"/>
            <a:ext cx="121920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" name="Google Shape;34;p2"/>
          <p:cNvCxnSpPr/>
          <p:nvPr/>
        </p:nvCxnSpPr>
        <p:spPr>
          <a:xfrm>
            <a:off x="1193800" y="1738312"/>
            <a:ext cx="9966325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" name="Google Shape;35;p2"/>
          <p:cNvSpPr txBox="1"/>
          <p:nvPr/>
        </p:nvSpPr>
        <p:spPr>
          <a:xfrm>
            <a:off x="10728325" y="6405562"/>
            <a:ext cx="2174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0" y="6318250"/>
            <a:ext cx="121920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"/>
          <p:cNvCxnSpPr/>
          <p:nvPr/>
        </p:nvCxnSpPr>
        <p:spPr>
          <a:xfrm>
            <a:off x="1193800" y="1738312"/>
            <a:ext cx="9966325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" name="Google Shape;39;p2"/>
          <p:cNvSpPr txBox="1"/>
          <p:nvPr>
            <p:ph idx="4294967295" type="title"/>
          </p:nvPr>
        </p:nvSpPr>
        <p:spPr>
          <a:xfrm>
            <a:off x="609600" y="285751"/>
            <a:ext cx="11582400" cy="131445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Overview on TypeScript</a:t>
            </a:r>
            <a:endParaRPr sz="7100"/>
          </a:p>
        </p:txBody>
      </p:sp>
      <p:sp>
        <p:nvSpPr>
          <p:cNvPr id="40" name="Google Shape;40;p2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TypeScript(TS) is an Open Source Object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Oriented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Programming Language built on top of JavaScript which is developed by Microsoft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TypeScript is a superset of javascript with additional syntax for type annotations &amp; other features like Interfaces , Enums &amp; Generics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all valid JavaScript code is also valid in TypeScript Code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 txBox="1"/>
          <p:nvPr/>
        </p:nvSpPr>
        <p:spPr>
          <a:xfrm>
            <a:off x="10815637" y="6405562"/>
            <a:ext cx="13779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7aab23c010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" name="Google Shape;48;g37aab23c010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" name="Google Shape;49;g37aab23c010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7aab23c010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7aab23c010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g37aab23c010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g37aab23c010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Features of</a:t>
            </a:r>
            <a:r>
              <a:rPr b="1" lang="en-US" sz="5700">
                <a:solidFill>
                  <a:srgbClr val="FF599C"/>
                </a:solidFill>
              </a:rPr>
              <a:t> TypeScript</a:t>
            </a:r>
            <a:endParaRPr sz="7100"/>
          </a:p>
        </p:txBody>
      </p:sp>
      <p:sp>
        <p:nvSpPr>
          <p:cNvPr id="54" name="Google Shape;54;g37aab23c010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TypeScript(TS) we can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mistakes in your code before executing it which is at compile time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TypeScript is an enhanced version of JavaScript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Cross Platform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Oriented Programming Language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 Maintainability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g37aab23c010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7aab23c010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aab23c010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g37aab23c010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3" name="Google Shape;63;g37aab23c010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7aab23c010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7aab23c010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" name="Google Shape;66;g37aab23c010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7" name="Google Shape;67;g37aab23c010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How TypeScript Works</a:t>
            </a:r>
            <a:endParaRPr sz="7100"/>
          </a:p>
        </p:txBody>
      </p:sp>
      <p:sp>
        <p:nvSpPr>
          <p:cNvPr id="68" name="Google Shape;68;g37aab23c010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 TypeScript: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can run in two ways: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TypeScript Online → Free online Compiler without any installation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TypeScript on Machine → upon configuration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TypeScript(TS) Compile first into regular JavaScript Code using TypeScript Compiler and then run the JS code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g37aab23c010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g37aab23c010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7c371840b5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g37c371840b5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7" name="Google Shape;77;g37c371840b5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7c371840b5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7c371840b5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" name="Google Shape;80;g37c371840b5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1" name="Google Shape;81;g37c371840b5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TypeScript Configuration</a:t>
            </a:r>
            <a:endParaRPr sz="7100"/>
          </a:p>
        </p:txBody>
      </p:sp>
      <p:sp>
        <p:nvSpPr>
          <p:cNvPr id="82" name="Google Shape;82;g37c371840b5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Download &amp; Install: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Visual Studio - https://code.visualstudio.com/download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 JS - https://nodejs.org/en/download/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TypeScript - npm install -g typescript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verify TS installation using below command: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tsc  - - version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npm install -g ts-node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g37c371840b5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g37c371840b5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c371840b5_0_41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0" name="Google Shape;90;g37c371840b5_0_41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1" name="Google Shape;91;g37c371840b5_0_41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7c371840b5_0_41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7c371840b5_0_41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g37c371840b5_0_41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95" name="Google Shape;95;g37c371840b5_0_41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TypeScript Configuration</a:t>
            </a:r>
            <a:endParaRPr sz="7100"/>
          </a:p>
        </p:txBody>
      </p:sp>
      <p:sp>
        <p:nvSpPr>
          <p:cNvPr id="96" name="Google Shape;96;g37c371840b5_0_41"/>
          <p:cNvSpPr txBox="1"/>
          <p:nvPr>
            <p:ph idx="4294967295" type="body"/>
          </p:nvPr>
        </p:nvSpPr>
        <p:spPr>
          <a:xfrm>
            <a:off x="685300" y="131255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tsconfig.json file in the project root folder with below content: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"compilerOptions": {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"target": "ES2020",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"module": "commonjs",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"moduleResolution": "node",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"esModuleInterop": true,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"allowSyntheticDefaultImports": true,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"strict": true,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"skipLibCheck": true,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"forceConsistentCasingInFileNames": true,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"resolveJsonModule": true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"ts-node": {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"esm": false,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"experimentalSpecifierResolution": "node",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g37c371840b5_0_41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7c371840b5_0_41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7c371840b5_0_15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4" name="Google Shape;104;g37c371840b5_0_15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g37c371840b5_0_15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7c371840b5_0_15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7c371840b5_0_15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g37c371840b5_0_15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9" name="Google Shape;109;g37c371840b5_0_15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TypeScript DataTypes</a:t>
            </a:r>
            <a:endParaRPr sz="7100"/>
          </a:p>
        </p:txBody>
      </p:sp>
      <p:sp>
        <p:nvSpPr>
          <p:cNvPr id="110" name="Google Shape;110;g37c371840b5_0_15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is a memory location where we can store a value . we can use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 or let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 name:dataype = value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Datatype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represents data that it needs to store in the variable , built-in primitive dataypes -&gt; can hold 1 value at a time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- Integer or floating data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string textual data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boolean true or false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undefined - a variable that has not been assigned a value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 - represent the absence of any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value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g37c371840b5_0_15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7c371840b5_0_15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c371840b5_0_28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8" name="Google Shape;118;g37c371840b5_0_28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g37c371840b5_0_28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7c371840b5_0_28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7c371840b5_0_28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g37c371840b5_0_28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3" name="Google Shape;123;g37c371840b5_0_28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TypeScript DataTypes</a:t>
            </a:r>
            <a:endParaRPr sz="7100"/>
          </a:p>
        </p:txBody>
      </p:sp>
      <p:sp>
        <p:nvSpPr>
          <p:cNvPr id="124" name="Google Shape;124;g37c371840b5_0_28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Declare variable: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 name:dataype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variable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name= value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naming rules: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name must start with a letter, underscore or dollar $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 cannot start with numbers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variables are case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sensitive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name &amp; Name are different variables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7c371840b5_0_28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7c371840b5_0_28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c371840b5_0_56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" name="Google Shape;132;g37c371840b5_0_56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3" name="Google Shape;133;g37c371840b5_0_56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7c371840b5_0_56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7c371840b5_0_56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" name="Google Shape;136;g37c371840b5_0_56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7" name="Google Shape;137;g37c371840b5_0_56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TypeScript Constants</a:t>
            </a:r>
            <a:endParaRPr sz="7100"/>
          </a:p>
        </p:txBody>
      </p:sp>
      <p:sp>
        <p:nvSpPr>
          <p:cNvPr id="138" name="Google Shape;138;g37c371840b5_0_56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Constant is a type of variable whose value cannot be changed.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use const keyword to create constants , &amp; once a constant is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initialized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can’t change it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initialize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constant during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declaration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itself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7c371840b5_0_56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7c371840b5_0_56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7c371840b5_0_82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6" name="Google Shape;146;g37c371840b5_0_82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7" name="Google Shape;147;g37c371840b5_0_82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7c371840b5_0_82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7c371840b5_0_82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g37c371840b5_0_82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1" name="Google Shape;151;g37c371840b5_0_82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TypeScript Operator</a:t>
            </a:r>
            <a:endParaRPr sz="7100"/>
          </a:p>
        </p:txBody>
      </p:sp>
      <p:sp>
        <p:nvSpPr>
          <p:cNvPr id="152" name="Google Shape;152;g37c371840b5_0_82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45720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Operators →used to perform operations on data or variables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Arithmetic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Operator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 Operator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Comparison/Relational Operator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Operator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Ternary Operator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Operator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7c371840b5_0_82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7c371840b5_0_82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c371840b5_0_95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0" name="Google Shape;160;g37c371840b5_0_95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g37c371840b5_0_95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7c371840b5_0_95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7c371840b5_0_95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" name="Google Shape;164;g37c371840b5_0_95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5" name="Google Shape;165;g37c371840b5_0_95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Arithmetic</a:t>
            </a:r>
            <a:r>
              <a:rPr b="1" lang="en-US" sz="5700">
                <a:solidFill>
                  <a:srgbClr val="FF599C"/>
                </a:solidFill>
              </a:rPr>
              <a:t> Operator</a:t>
            </a:r>
            <a:endParaRPr sz="7100"/>
          </a:p>
        </p:txBody>
      </p:sp>
      <p:sp>
        <p:nvSpPr>
          <p:cNvPr id="166" name="Google Shape;166;g37c371840b5_0_95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Arithmetic Operator 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++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-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7c371840b5_0_95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37c371840b5_0_95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c371840b5_0_108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4" name="Google Shape;174;g37c371840b5_0_108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5" name="Google Shape;175;g37c371840b5_0_108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g37c371840b5_0_108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g37c371840b5_0_108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g37c371840b5_0_108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9" name="Google Shape;179;g37c371840b5_0_108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Assignment</a:t>
            </a:r>
            <a:r>
              <a:rPr b="1" lang="en-US" sz="5700">
                <a:solidFill>
                  <a:srgbClr val="FF599C"/>
                </a:solidFill>
              </a:rPr>
              <a:t> Operator</a:t>
            </a:r>
            <a:endParaRPr sz="7100"/>
          </a:p>
        </p:txBody>
      </p:sp>
      <p:sp>
        <p:nvSpPr>
          <p:cNvPr id="180" name="Google Shape;180;g37c371840b5_0_108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Assignment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Operator 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+=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-=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*=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/=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%=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7c371840b5_0_108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7c371840b5_0_108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86b0dbf47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8" name="Google Shape;188;g3886b0dbf47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9" name="Google Shape;189;g3886b0dbf47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g3886b0dbf47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886b0dbf47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g3886b0dbf47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3" name="Google Shape;193;g3886b0dbf47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Comparison</a:t>
            </a:r>
            <a:r>
              <a:rPr b="1" lang="en-US" sz="5700">
                <a:solidFill>
                  <a:srgbClr val="FF599C"/>
                </a:solidFill>
              </a:rPr>
              <a:t> Operator</a:t>
            </a:r>
            <a:endParaRPr sz="7100"/>
          </a:p>
        </p:txBody>
      </p:sp>
      <p:sp>
        <p:nvSpPr>
          <p:cNvPr id="194" name="Google Shape;194;g3886b0dbf47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Comparison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Operator : this compare two values and return a boolean value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 equal 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!= not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 greater than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&gt;= greater than or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 less than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&lt;= less than or equal to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=== strictly equal 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!== strictly not equal to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g3886b0dbf47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886b0dbf47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86b0dbf47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g3886b0dbf47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3" name="Google Shape;203;g3886b0dbf47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886b0dbf47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886b0dbf47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6" name="Google Shape;206;g3886b0dbf47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7" name="Google Shape;207;g3886b0dbf47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Logical</a:t>
            </a:r>
            <a:r>
              <a:rPr b="1" lang="en-US" sz="5700">
                <a:solidFill>
                  <a:srgbClr val="FF599C"/>
                </a:solidFill>
              </a:rPr>
              <a:t> Operator</a:t>
            </a:r>
            <a:endParaRPr sz="7100"/>
          </a:p>
        </p:txBody>
      </p:sp>
      <p:sp>
        <p:nvSpPr>
          <p:cNvPr id="208" name="Google Shape;208;g3886b0dbf47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Operator : for making decisions based on multiple conditions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&amp;&amp; → returns true if both expressions are true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|| → returns true if anyone expressions is true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 → returns vice versa of the outcome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g3886b0dbf47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g3886b0dbf47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86b0dbf47_0_26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g3886b0dbf47_0_26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7" name="Google Shape;217;g3886b0dbf47_0_26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886b0dbf47_0_26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g3886b0dbf47_0_26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g3886b0dbf47_0_26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g3886b0dbf47_0_26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Ternary</a:t>
            </a:r>
            <a:r>
              <a:rPr b="1" lang="en-US" sz="5700">
                <a:solidFill>
                  <a:srgbClr val="FF599C"/>
                </a:solidFill>
              </a:rPr>
              <a:t> Operator</a:t>
            </a:r>
            <a:endParaRPr sz="7100"/>
          </a:p>
        </p:txBody>
      </p:sp>
      <p:sp>
        <p:nvSpPr>
          <p:cNvPr id="222" name="Google Shape;222;g3886b0dbf47_0_26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Ternary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Operator : also known as conditional operator, consists of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parts: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Condition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expression to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if condition is true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expression to execute if condition is false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 ? expression1 : expression2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Typeof Operator : determines the type of a variable or an expression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g3886b0dbf47_0_26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886b0dbf47_0_26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7c5afa1c5d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0" name="Google Shape;230;g37c5afa1c5d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1" name="Google Shape;231;g37c5afa1c5d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7c5afa1c5d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g37c5afa1c5d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4" name="Google Shape;234;g37c5afa1c5d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5" name="Google Shape;235;g37c5afa1c5d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Conditional Statements</a:t>
            </a:r>
            <a:endParaRPr sz="7100"/>
          </a:p>
        </p:txBody>
      </p:sp>
      <p:sp>
        <p:nvSpPr>
          <p:cNvPr id="236" name="Google Shape;236;g37c5afa1c5d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Conditional Statement will execute/skip a block of code based on a condition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if-else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Nested if else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can we use ternary operator instead of if else?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add multiple conditions in single if?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g37c5afa1c5d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g37c5afa1c5d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7c5afa1c5d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4" name="Google Shape;244;g37c5afa1c5d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" name="Google Shape;245;g37c5afa1c5d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g37c5afa1c5d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7c5afa1c5d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g37c5afa1c5d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9" name="Google Shape;249;g37c5afa1c5d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Switch</a:t>
            </a:r>
            <a:r>
              <a:rPr b="1" lang="en-US" sz="5700">
                <a:solidFill>
                  <a:srgbClr val="FF599C"/>
                </a:solidFill>
              </a:rPr>
              <a:t> Statements</a:t>
            </a:r>
            <a:endParaRPr sz="7100"/>
          </a:p>
        </p:txBody>
      </p:sp>
      <p:sp>
        <p:nvSpPr>
          <p:cNvPr id="250" name="Google Shape;250;g37c5afa1c5d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 .. case statement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executes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different blocks of code based on the value of a given expression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 :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terminates the loop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immediately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when its encountered.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switch(variable) {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case “one”: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action;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break;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default: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action;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7c5afa1c5d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g37c5afa1c5d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c5afa1c5d_0_26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8" name="Google Shape;258;g37c5afa1c5d_0_26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g37c5afa1c5d_0_26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g37c5afa1c5d_0_26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g37c5afa1c5d_0_26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2" name="Google Shape;262;g37c5afa1c5d_0_26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3" name="Google Shape;263;g37c5afa1c5d_0_26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For loop</a:t>
            </a:r>
            <a:endParaRPr sz="7100"/>
          </a:p>
        </p:txBody>
      </p:sp>
      <p:sp>
        <p:nvSpPr>
          <p:cNvPr id="264" name="Google Shape;264;g37c5afa1c5d_0_26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loop is used to iterate over a block of code a certain number of times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for(variable;condition;increment/decrement){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numbers from 1 to 10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even numbers from 1 to 20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odd numbers from 1 to 20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g37c5afa1c5d_0_26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g37c5afa1c5d_0_26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7c5afa1c5d_0_39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2" name="Google Shape;272;g37c5afa1c5d_0_39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3" name="Google Shape;273;g37c5afa1c5d_0_39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g37c5afa1c5d_0_39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g37c5afa1c5d_0_39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g37c5afa1c5d_0_39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7" name="Google Shape;277;g37c5afa1c5d_0_39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While</a:t>
            </a:r>
            <a:r>
              <a:rPr b="1" lang="en-US" sz="5700">
                <a:solidFill>
                  <a:srgbClr val="FF599C"/>
                </a:solidFill>
              </a:rPr>
              <a:t> loop</a:t>
            </a:r>
            <a:endParaRPr sz="7100"/>
          </a:p>
        </p:txBody>
      </p:sp>
      <p:sp>
        <p:nvSpPr>
          <p:cNvPr id="278" name="Google Shape;278;g37c5afa1c5d_0_39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loop repeatedly executes a block of code as long as the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specified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condition is true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 while executes code once then executes until the condition is true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while(condition){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numbers from 1 to 10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even numbers from 1 to 20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 odd numbers from 1 to 20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g37c5afa1c5d_0_39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37c5afa1c5d_0_39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7c5afa1c5d_0_65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6" name="Google Shape;286;g37c5afa1c5d_0_65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" name="Google Shape;287;g37c5afa1c5d_0_65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37c5afa1c5d_0_65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g37c5afa1c5d_0_65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0" name="Google Shape;290;g37c5afa1c5d_0_65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1" name="Google Shape;291;g37c5afa1c5d_0_65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String Methods</a:t>
            </a:r>
            <a:endParaRPr sz="7100"/>
          </a:p>
        </p:txBody>
      </p:sp>
      <p:sp>
        <p:nvSpPr>
          <p:cNvPr id="292" name="Google Shape;292;g37c5afa1c5d_0_65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length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chatAt(index)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replace(“abc”,”def”)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toLowerCase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toUpperCase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split(“delimiter”)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trim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startsWith(text) → true or false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endsWith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(text)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→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true or false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g37c5afa1c5d_0_65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g37c5afa1c5d_0_65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7c5afa1c5d_0_78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g37c5afa1c5d_0_78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" name="Google Shape;301;g37c5afa1c5d_0_78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g37c5afa1c5d_0_78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g37c5afa1c5d_0_78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4" name="Google Shape;304;g37c5afa1c5d_0_78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5" name="Google Shape;305;g37c5afa1c5d_0_78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Arrays</a:t>
            </a:r>
            <a:endParaRPr sz="7100"/>
          </a:p>
        </p:txBody>
      </p:sp>
      <p:sp>
        <p:nvSpPr>
          <p:cNvPr id="306" name="Google Shape;306;g37c5afa1c5d_0_78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Collection of elements of the same data type →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Single Dimensional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 Dimensional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Elements in Array can be accessed by its index, ideally index starts with 0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add, remove &amp; change elements in array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push() → insert at end &amp; unshift() → insert at starting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pop() → remove last element from the array &amp; shift() → remove at starting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array[index]=new value → this will change the value at that index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g37c5afa1c5d_0_78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7c5afa1c5d_0_78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c5afa1c5d_0_104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4" name="Google Shape;314;g37c5afa1c5d_0_104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5" name="Google Shape;315;g37c5afa1c5d_0_104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g37c5afa1c5d_0_104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g37c5afa1c5d_0_104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8" name="Google Shape;318;g37c5afa1c5d_0_104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" name="Google Shape;319;g37c5afa1c5d_0_104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Array - Methods </a:t>
            </a:r>
            <a:endParaRPr sz="7100"/>
          </a:p>
        </p:txBody>
      </p:sp>
      <p:sp>
        <p:nvSpPr>
          <p:cNvPr id="320" name="Google Shape;320;g37c5afa1c5d_0_104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concat() → joins two or more arrays and returns the result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toString() → converts array to a string of comma-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separated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values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indexOf() → search for the element and returns the first index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find() → return the value of 1st element in the array that satisfies the provided testing function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includes() → checks if array contains a specified element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sort() → sorts the elements of an array in place and return the sorted order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slice() → selects part of an array &amp; returns it as a new array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splice() → changes the contents of an array by removing or replacing existing elements and adding new elements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g37c5afa1c5d_0_104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7c5afa1c5d_0_104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7c624363fc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g37c624363fc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29" name="Google Shape;329;g37c624363fc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g37c624363fc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g37c624363fc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g37c624363fc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3" name="Google Shape;333;g37c624363fc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Functions</a:t>
            </a:r>
            <a:endParaRPr sz="7100"/>
          </a:p>
        </p:txBody>
      </p:sp>
      <p:sp>
        <p:nvSpPr>
          <p:cNvPr id="334" name="Google Shape;334;g37c624363fc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is a code block which performs specific task &amp; return is optional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with a name &amp; without name(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Anonymous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we can create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name(){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name(): return {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7c624363fc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g37c624363fc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7cd5a0a9dd_0_14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g37cd5a0a9dd_0_14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3" name="Google Shape;343;g37cd5a0a9dd_0_14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g37cd5a0a9dd_0_14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g37cd5a0a9dd_0_14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g37cd5a0a9dd_0_14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7" name="Google Shape;347;g37cd5a0a9dd_0_14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Function Overloading</a:t>
            </a:r>
            <a:endParaRPr sz="7100"/>
          </a:p>
        </p:txBody>
      </p:sp>
      <p:sp>
        <p:nvSpPr>
          <p:cNvPr id="348" name="Google Shape;348;g37cd5a0a9dd_0_14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with same name &amp; different arguments &amp; return type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1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definition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multiple functions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2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parameters type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2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●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number of parameters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Overloading helps us in writing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7cd5a0a9dd_0_14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g37cd5a0a9dd_0_14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7cd5a0a9dd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g37cd5a0a9dd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7" name="Google Shape;357;g37cd5a0a9dd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g37cd5a0a9dd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g37cd5a0a9dd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g37cd5a0a9dd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1" name="Google Shape;361;g37cd5a0a9dd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Arrow </a:t>
            </a:r>
            <a:r>
              <a:rPr b="1" lang="en-US" sz="5700">
                <a:solidFill>
                  <a:srgbClr val="FF599C"/>
                </a:solidFill>
              </a:rPr>
              <a:t>Function</a:t>
            </a:r>
            <a:endParaRPr sz="7100"/>
          </a:p>
        </p:txBody>
      </p:sp>
      <p:sp>
        <p:nvSpPr>
          <p:cNvPr id="362" name="Google Shape;362;g37cd5a0a9dd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Arrow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is a special function ,which is an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anonymous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function and in other language we call them as lambda functions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function = (arg1:type1…): return =&gt; { logic }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850">
                <a:solidFill>
                  <a:srgbClr val="D3D3D3"/>
                </a:solidFill>
                <a:highlight>
                  <a:srgbClr val="383B40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Rest Parameters: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allows a function to accept multiple number of arguments as a single array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 functionName(...restParameterName: type[]){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 }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7cd5a0a9dd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7cd5a0a9dd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7d5f055cb8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g37d5f055cb8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1" name="Google Shape;371;g37d5f055cb8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g37d5f055cb8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g37d5f055cb8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4" name="Google Shape;374;g37d5f055cb8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75" name="Google Shape;375;g37d5f055cb8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Tuple</a:t>
            </a:r>
            <a:endParaRPr sz="7100"/>
          </a:p>
        </p:txBody>
      </p:sp>
      <p:sp>
        <p:nvSpPr>
          <p:cNvPr id="376" name="Google Shape;376;g37d5f055cb8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It’s a special kind of Array that allows you to store fixed number of elements with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different/same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types in specific order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name:[number, number] = [101,102];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can simply access like an array by using its index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parameters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: add new values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pop : remove last element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Tuple Array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g37d5f055cb8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g37d5f055cb8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7db7fc57b7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4" name="Google Shape;384;g37db7fc57b7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5" name="Google Shape;385;g37db7fc57b7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g37db7fc57b7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g37db7fc57b7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8" name="Google Shape;388;g37db7fc57b7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9" name="Google Shape;389;g37db7fc57b7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Class</a:t>
            </a:r>
            <a:endParaRPr sz="7100"/>
          </a:p>
        </p:txBody>
      </p:sp>
      <p:sp>
        <p:nvSpPr>
          <p:cNvPr id="390" name="Google Shape;390;g37db7fc57b7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is a BluePrint or Collection of properties , methods &amp;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is an instance to a class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name {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 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 name = new classname()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we can create multiple objects to a class , internally memory is allocate for these object with this every object will acquire the variables &amp; methods defined in the class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g37db7fc57b7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g37db7fc57b7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7db7fc57b7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g37db7fc57b7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99" name="Google Shape;399;g37db7fc57b7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g37db7fc57b7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g37db7fc57b7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2" name="Google Shape;402;g37db7fc57b7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3" name="Google Shape;403;g37db7fc57b7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Constructor</a:t>
            </a:r>
            <a:endParaRPr sz="7100"/>
          </a:p>
        </p:txBody>
      </p:sp>
      <p:sp>
        <p:nvSpPr>
          <p:cNvPr id="404" name="Google Shape;404;g37db7fc57b7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code block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name is going to be Constructor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will accept arguments just like methods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won’t return any value like void or any type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Whenever we are creating an object to the class , automatically content present in the constructor would be called … unlike method we need to call it explicitly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constructor(){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g37db7fc57b7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g37db7fc57b7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a44bd8be6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2" name="Google Shape;412;g38a44bd8be6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3" name="Google Shape;413;g38a44bd8be6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g38a44bd8be6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g38a44bd8be6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6" name="Google Shape;416;g38a44bd8be6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17" name="Google Shape;417;g38a44bd8be6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Access Modifiers</a:t>
            </a:r>
            <a:endParaRPr sz="7100"/>
          </a:p>
        </p:txBody>
      </p:sp>
      <p:sp>
        <p:nvSpPr>
          <p:cNvPr id="418" name="Google Shape;418;g38a44bd8be6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the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visibility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&amp;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class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members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i.e properties &amp; methods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: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class members to be accessible from within the class, or another file also. If no access modifier is specified then public is the default access level in TypeScript.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can be accessed within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 where it is declared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Protected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within the class and its subclasses but not from outside the class hierarchy.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8a44bd8be6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g38a44bd8be6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8a54c35913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26" name="Google Shape;426;g38a54c35913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7" name="Google Shape;427;g38a54c35913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g38a54c35913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g38a54c35913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30" name="Google Shape;430;g38a54c35913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1" name="Google Shape;431;g38a54c35913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Inheritance</a:t>
            </a:r>
            <a:endParaRPr sz="7100"/>
          </a:p>
        </p:txBody>
      </p:sp>
      <p:sp>
        <p:nvSpPr>
          <p:cNvPr id="432" name="Google Shape;432;g38a54c35913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Establishing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relation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between different classes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class which inherits the properties is known as child class &amp; class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whose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properties are inherited is known as parent class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B extend A{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body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Overriding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Same method with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logic in child class , we can override variables and methods. Name &amp; signature should be 1 and the same to override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g38a54c35913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g38a54c35913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8a54c35913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g38a54c35913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1" name="Google Shape;441;g38a54c35913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g38a54c35913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g38a54c35913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g38a54c35913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" name="Google Shape;445;g38a54c35913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Interface</a:t>
            </a:r>
            <a:endParaRPr sz="7100"/>
          </a:p>
        </p:txBody>
      </p:sp>
      <p:sp>
        <p:nvSpPr>
          <p:cNvPr id="446" name="Google Shape;446;g38a54c35913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defines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classes to follow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will define variables &amp; methods without implementation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name{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Prop1;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method;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name implements Interface{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logic;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g38a54c35913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g38a54c35913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7ea80125fd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4" name="Google Shape;454;g37ea80125fd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5" name="Google Shape;455;g37ea80125fd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g37ea80125fd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g37ea80125fd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8" name="Google Shape;458;g37ea80125fd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59" name="Google Shape;459;g37ea80125fd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Module</a:t>
            </a:r>
            <a:endParaRPr sz="7100"/>
          </a:p>
        </p:txBody>
      </p:sp>
      <p:sp>
        <p:nvSpPr>
          <p:cNvPr id="460" name="Google Shape;460;g37ea80125fd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Module is a file containing TypeScript code that can be imported and used in other TS files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 need to define export making the file as module and we need to use import to use it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⦿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Ideally files created in Typescript has global access which causes conflicts to your code at run time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syntax: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 keyword place before variable/method/class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{name} from “location”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7ea80125fd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g37ea80125fd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7ea80125fd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8" name="Google Shape;468;g37ea80125fd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69" name="Google Shape;469;g37ea80125fd_0_13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g37ea80125fd_0_13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g37ea80125fd_0_13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2" name="Google Shape;472;g37ea80125fd_0_13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73" name="Google Shape;473;g37ea80125fd_0_13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ts val="2800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let vs var</a:t>
            </a:r>
            <a:endParaRPr sz="7100"/>
          </a:p>
        </p:txBody>
      </p:sp>
      <p:sp>
        <p:nvSpPr>
          <p:cNvPr id="474" name="Google Shape;474;g37ea80125fd_0_13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var: variables declared with var are function scope which means they are accessible in the entire 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 values can be redeclared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let: variables declared with let are block scoped which means they are accessible within the block (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{}</a:t>
            </a: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 values cannot be redeclared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g37ea80125fd_0_13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g37ea80125fd_0_13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7c5afa1c5d_0_91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2" name="Google Shape;482;g37c5afa1c5d_0_91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3" name="Google Shape;483;g37c5afa1c5d_0_91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g37c5afa1c5d_0_91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g37c5afa1c5d_0_91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g37c5afa1c5d_0_91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87" name="Google Shape;487;g37c5afa1c5d_0_91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ct val="49122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Questions we need to ask at the end of this section</a:t>
            </a:r>
            <a:endParaRPr sz="7100"/>
          </a:p>
        </p:txBody>
      </p:sp>
      <p:sp>
        <p:nvSpPr>
          <p:cNvPr id="488" name="Google Shape;488;g37c5afa1c5d_0_91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var vs let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push vs unshift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 to print even/odd numbers using for loop &amp; while loop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ro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existing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an array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pick some examples on String as true and false questionary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on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infinite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loop while &amp; for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change const value , show me with example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use ternary operator instead of if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strictly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equal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 soft equal example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optional parameters can we define in start ? whats the keyword?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t/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7c5afa1c5d_0_91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g37c5afa1c5d_0_91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7d5f055cb8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g37d5f055cb8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97" name="Google Shape;497;g37d5f055cb8_0_0"/>
          <p:cNvSpPr txBox="1"/>
          <p:nvPr/>
        </p:nvSpPr>
        <p:spPr>
          <a:xfrm>
            <a:off x="10728325" y="6405562"/>
            <a:ext cx="21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g37d5f055cb8_0_0"/>
          <p:cNvSpPr txBox="1"/>
          <p:nvPr/>
        </p:nvSpPr>
        <p:spPr>
          <a:xfrm>
            <a:off x="0" y="68580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g37d5f055cb8_0_0"/>
          <p:cNvSpPr txBox="1"/>
          <p:nvPr/>
        </p:nvSpPr>
        <p:spPr>
          <a:xfrm>
            <a:off x="0" y="6318250"/>
            <a:ext cx="12192000" cy="82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0" name="Google Shape;500;g37d5f055cb8_0_0"/>
          <p:cNvCxnSpPr/>
          <p:nvPr/>
        </p:nvCxnSpPr>
        <p:spPr>
          <a:xfrm>
            <a:off x="1193800" y="1738312"/>
            <a:ext cx="9966300" cy="0"/>
          </a:xfrm>
          <a:prstGeom prst="straightConnector1">
            <a:avLst/>
          </a:prstGeom>
          <a:noFill/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1" name="Google Shape;501;g37d5f055cb8_0_0"/>
          <p:cNvSpPr txBox="1"/>
          <p:nvPr>
            <p:ph idx="4294967295" type="title"/>
          </p:nvPr>
        </p:nvSpPr>
        <p:spPr>
          <a:xfrm>
            <a:off x="609600" y="285751"/>
            <a:ext cx="11582400" cy="1314600"/>
          </a:xfrm>
          <a:prstGeom prst="rect">
            <a:avLst/>
          </a:prstGeom>
          <a:solidFill>
            <a:srgbClr val="FFFFFF"/>
          </a:solidFill>
          <a:ln cap="flat" cmpd="sng" w="222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48463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99C"/>
              </a:buClr>
              <a:buSzPct val="49122"/>
              <a:buFont typeface="Century Gothic"/>
              <a:buNone/>
            </a:pPr>
            <a:r>
              <a:rPr b="1" lang="en-US" sz="5700">
                <a:solidFill>
                  <a:srgbClr val="FF599C"/>
                </a:solidFill>
              </a:rPr>
              <a:t>Questions we need to ask at the end of this section</a:t>
            </a:r>
            <a:endParaRPr sz="7100"/>
          </a:p>
        </p:txBody>
      </p:sp>
      <p:sp>
        <p:nvSpPr>
          <p:cNvPr id="502" name="Google Shape;502;g37d5f055cb8_0_0"/>
          <p:cNvSpPr txBox="1"/>
          <p:nvPr>
            <p:ph idx="4294967295" type="body"/>
          </p:nvPr>
        </p:nvSpPr>
        <p:spPr>
          <a:xfrm>
            <a:off x="609600" y="1600200"/>
            <a:ext cx="11582400" cy="5257800"/>
          </a:xfrm>
          <a:prstGeom prst="rect">
            <a:avLst/>
          </a:prstGeom>
          <a:solidFill>
            <a:srgbClr val="FFFFFF"/>
          </a:solidFill>
          <a:ln cap="flat" cmpd="sng" w="158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r we using … , can we place rest parameters 1st n nxt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default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parameters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assign values to function in different order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an arrow function → few topics only this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can we define 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overloading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arrays → push n pop, all methods with examples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tuples ?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AutoNum type="arabicPeriod"/>
            </a:pPr>
            <a:r>
              <a:rPr b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constructor vs method </a:t>
            </a:r>
            <a:endParaRPr b="1"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g37d5f055cb8_0_0"/>
          <p:cNvSpPr txBox="1"/>
          <p:nvPr/>
        </p:nvSpPr>
        <p:spPr>
          <a:xfrm>
            <a:off x="10815637" y="6405562"/>
            <a:ext cx="1377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g37d5f055cb8_0_0"/>
          <p:cNvSpPr txBox="1"/>
          <p:nvPr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2_Verve">
  <a:themeElements>
    <a:clrScheme name="Verve">
      <a:dk1>
        <a:srgbClr val="000000"/>
      </a:dk1>
      <a:lt1>
        <a:srgbClr val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2017-11-16T09:54:24Z</dcterms:created>
  <dc:creator>vkandukuri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KSOProductBuildVer">
    <vt:lpstr>1033-8.1.0.3375</vt:lpstr>
  </property>
</Properties>
</file>